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  <p:embeddedFont>
      <p:font typeface="Roboto Slab" panose="020F0502020204030204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81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Unlocking customer insights to reveal patterns, opportunities, and growth.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41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15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1464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5298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18 features including demographics, purchase details, and behavior signals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5015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$59.76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21464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Avg. Purchase Value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45298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review rating of 3.75 / 5.0 across all transactions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26097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90592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Categories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421243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Clothing, Accessories, Footwear, and Outerwear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3260973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90592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Locations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421243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null review ratings imputed using category-level median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9B4F22-EF2A-CCF3-FD03-D3137EFBBF07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399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Preparation &amp; Feature Engineering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40496"/>
            <a:ext cx="1931566" cy="1989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101304"/>
            <a:ext cx="15337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407816"/>
            <a:ext cx="153374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and explored data with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pandas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checked structure, summary stats, and null values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43" y="1940496"/>
            <a:ext cx="1931640" cy="1989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06452" y="2101304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806452" y="2629272"/>
            <a:ext cx="15338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Engineered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age_group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(binned) and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purchase_frequency_days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columns for richer segmentation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940496"/>
            <a:ext cx="1931640" cy="1989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9851" y="2101304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Cleanup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879851" y="2407816"/>
            <a:ext cx="153382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Dropped redundant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promo_code_used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(identical to discount_applied); standardized column names to snake_case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6241" y="1940496"/>
            <a:ext cx="1931640" cy="1989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53250" y="2101304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 Load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953250" y="2407816"/>
            <a:ext cx="15338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cleaned DataFrame into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PostgreSQL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SQL-based business analysis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CA15E-7CB0-B097-970F-D99B0399D23A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Category: Clothing Dominates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leads with approximately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$90K in revenue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~1,800 sales — far ahead of all other categories.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Accessories (~$60K) holds a strong second position, while Footwear lags behind and Outerwear trails significantly at ~$10K.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49701" y="2883991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7DFF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099048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304695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Outerwear represents a potential growth opportunity or a candidate for strategic rationalization.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88F51-FD30-C83D-F330-2E0876ED6555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01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Age Group &amp; Gender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6991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Age Group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7626"/>
            <a:ext cx="3938067" cy="28345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183410"/>
            <a:ext cx="393806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Young Adults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lead at $62,143 — but all age groups contribute meaningfully, signaling broad cross-age appeal.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77" y="96991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Gender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577" y="1247626"/>
            <a:ext cx="3938067" cy="2834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14577" y="4183410"/>
            <a:ext cx="393806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Male customers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account for $157,890 vs. $75,191 from female customers. Males represent </a:t>
            </a:r>
            <a:r>
              <a:rPr lang="en-US" sz="8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68%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customer base (2,652 of 3,900) — driving the revenue gap.</a:t>
            </a:r>
            <a:endParaRPr lang="en-US" sz="8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1A02A-B498-0354-652A-B2E1D075DB8A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05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Status: 73% Are Non-Subscribers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76115"/>
            <a:ext cx="8151763" cy="1633686"/>
          </a:xfrm>
          <a:prstGeom prst="roundRect">
            <a:avLst>
              <a:gd name="adj" fmla="val 1302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776115"/>
            <a:ext cx="4075881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1917874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224385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2,847 customers (73%)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hold no subscription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776115"/>
            <a:ext cx="4075881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776115"/>
            <a:ext cx="19050" cy="816843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9" name="Text 7"/>
          <p:cNvSpPr/>
          <p:nvPr/>
        </p:nvSpPr>
        <p:spPr>
          <a:xfrm>
            <a:off x="4713759" y="1917874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13759" y="2224385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1,053 customers (27%)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hold active subscriptions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592958"/>
            <a:ext cx="4075881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2592958"/>
            <a:ext cx="4075881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2734717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Avg. Spend — Subscribers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041228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$59.49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transaction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592958"/>
            <a:ext cx="4075881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592958"/>
            <a:ext cx="19050" cy="816843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592958"/>
            <a:ext cx="4075881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8" name="Text 16"/>
          <p:cNvSpPr/>
          <p:nvPr/>
        </p:nvSpPr>
        <p:spPr>
          <a:xfrm>
            <a:off x="4713759" y="2734717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Avg. Spend — Non-Subscribers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13759" y="3041228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$59.87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transaction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119" y="356927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spend is nearly identical across both groups —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subscriptions do not drive higher spend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but represent an untapped engagement and retention lever.</a:t>
            </a:r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76C587-4C22-7998-814E-8B175C4F3BAF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63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 by Loyalty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12639"/>
            <a:ext cx="3539430" cy="342207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33479" y="1112639"/>
            <a:ext cx="1901354" cy="1586954"/>
          </a:xfrm>
          <a:prstGeom prst="roundRect">
            <a:avLst>
              <a:gd name="adj" fmla="val 121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76205" y="1255365"/>
            <a:ext cx="1615901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 Customers — 80%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876205" y="1773138"/>
            <a:ext cx="161590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customers form a strong retention base with consistent repeat purchasing behavior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51216" y="1112639"/>
            <a:ext cx="1901428" cy="1586954"/>
          </a:xfrm>
          <a:prstGeom prst="roundRect">
            <a:avLst>
              <a:gd name="adj" fmla="val 121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93942" y="1255365"/>
            <a:ext cx="161597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Returning — 18%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93942" y="1572444"/>
            <a:ext cx="16159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returning customers represent a warm re-engagement opportunity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3479" y="2815977"/>
            <a:ext cx="3919165" cy="994395"/>
          </a:xfrm>
          <a:prstGeom prst="roundRect">
            <a:avLst>
              <a:gd name="adj" fmla="val 193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76205" y="2958703"/>
            <a:ext cx="36337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 — Only 2%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876205" y="3275781"/>
            <a:ext cx="363371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 83 new customers — a critical pipeline gap requiring attention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33479" y="3941341"/>
            <a:ext cx="3919165" cy="665559"/>
          </a:xfrm>
          <a:prstGeom prst="roundRect">
            <a:avLst>
              <a:gd name="adj" fmla="val 2896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917" y="4127525"/>
            <a:ext cx="160586" cy="1284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50941" y="4078188"/>
            <a:ext cx="33732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2,518 repeat buyers (&gt;5 purchases) remain non-subscribers — a prime conversion opportunity.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23BF54-21F0-F76B-D1C5-4663A4BE878B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0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Products by Rating &amp; Category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75593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0713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Highest-Rated Items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013645"/>
            <a:ext cx="3987254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 — 3.86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 — 3.84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 — 3.82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 — 3.80 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⭐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175593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70713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Clothing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013645"/>
            <a:ext cx="3987329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Blouse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Runner-up: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Pants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5309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88463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4191149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Jewelry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353098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88463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Footwear &amp; 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4191149"/>
            <a:ext cx="3987329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Footwear: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Sandals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Outerwear: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Jacket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3DCA4-BFAD-EDF7-9E68-0427C1930F4C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44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Discount Dependency &amp; Shipping Behavior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4792"/>
            <a:ext cx="2486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Discounted Items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5718"/>
            <a:ext cx="2486323" cy="2202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938067"/>
            <a:ext cx="24863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half of all sales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these items rely on discounts — raising margin erosion concerns.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333080" y="1212503"/>
            <a:ext cx="2486323" cy="1667396"/>
          </a:xfrm>
          <a:prstGeom prst="roundRect">
            <a:avLst>
              <a:gd name="adj" fmla="val 1275"/>
            </a:avLst>
          </a:prstGeom>
          <a:solidFill>
            <a:srgbClr val="E9ECF2"/>
          </a:solidFill>
          <a:ln/>
        </p:spPr>
      </p:sp>
      <p:sp>
        <p:nvSpPr>
          <p:cNvPr id="7" name="Shape 4"/>
          <p:cNvSpPr/>
          <p:nvPr/>
        </p:nvSpPr>
        <p:spPr>
          <a:xfrm>
            <a:off x="4363566" y="1354262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sp>
        <p:nvSpPr>
          <p:cNvPr id="8" name="Text 5"/>
          <p:cNvSpPr/>
          <p:nvPr/>
        </p:nvSpPr>
        <p:spPr>
          <a:xfrm>
            <a:off x="3474839" y="1921297"/>
            <a:ext cx="22028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74839" y="2284512"/>
            <a:ext cx="220280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spend: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signal of higher-value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3080" y="3021657"/>
            <a:ext cx="2486323" cy="1440582"/>
          </a:xfrm>
          <a:prstGeom prst="roundRect">
            <a:avLst>
              <a:gd name="adj" fmla="val 1476"/>
            </a:avLst>
          </a:prstGeom>
          <a:solidFill>
            <a:srgbClr val="E9ECF2"/>
          </a:solidFill>
          <a:ln/>
        </p:spPr>
      </p:sp>
      <p:sp>
        <p:nvSpPr>
          <p:cNvPr id="11" name="Shape 8"/>
          <p:cNvSpPr/>
          <p:nvPr/>
        </p:nvSpPr>
        <p:spPr>
          <a:xfrm>
            <a:off x="4363566" y="3163416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sp>
        <p:nvSpPr>
          <p:cNvPr id="12" name="Text 9"/>
          <p:cNvSpPr/>
          <p:nvPr/>
        </p:nvSpPr>
        <p:spPr>
          <a:xfrm>
            <a:off x="3474839" y="3730451"/>
            <a:ext cx="22028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Standard Shipping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74839" y="4093666"/>
            <a:ext cx="22028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spend: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0042" y="1194792"/>
            <a:ext cx="2486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Shipping Type &amp; Spend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70042" y="1558007"/>
            <a:ext cx="24863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customers used discounts yet still spent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above the average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discount-driven but demonstrably high-value.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EE363-F311-D0CC-EE88-8E210741EAFD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683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41065"/>
            <a:ext cx="555367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14" y="1507034"/>
            <a:ext cx="4936480" cy="27675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32363" y="1170980"/>
            <a:ext cx="2720206" cy="1054745"/>
          </a:xfrm>
          <a:prstGeom prst="roundRect">
            <a:avLst>
              <a:gd name="adj" fmla="val 1953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6069657" y="1308274"/>
            <a:ext cx="24456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69657" y="1655787"/>
            <a:ext cx="24456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Slice by Subscription Status, Gender, Category, and Shipping Type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32363" y="2358703"/>
            <a:ext cx="2720206" cy="1054745"/>
          </a:xfrm>
          <a:prstGeom prst="roundRect">
            <a:avLst>
              <a:gd name="adj" fmla="val 1953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6069657" y="2495996"/>
            <a:ext cx="24456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69657" y="2843510"/>
            <a:ext cx="24456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At-a-glance metrics for total revenue, avg. purchase, and customer count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32363" y="3546425"/>
            <a:ext cx="2720206" cy="1054745"/>
          </a:xfrm>
          <a:prstGeom prst="roundRect">
            <a:avLst>
              <a:gd name="adj" fmla="val 1953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6069657" y="3683719"/>
            <a:ext cx="24456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Breakdowns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69657" y="4031233"/>
            <a:ext cx="24456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Donut chart and bar charts for category and age-group revenue distributions</a:t>
            </a:r>
            <a:endParaRPr lang="en-US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CDD765-DB6F-65B9-EBC0-D16644817A4A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469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1028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549287" y="133684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6816" y="1358950"/>
            <a:ext cx="7691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Convert Repeat Buyers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6816" y="1665461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2,518 loyal non-subscribers are prime subscription targets — offer exclusive perks to close the gap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17579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549287" y="220235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6816" y="2224460"/>
            <a:ext cx="7691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Revise Discount Policy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56816" y="2530971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discount rates on Hats, Sneakers, and Coats (~50%) risk margin erosion — reassess thresholds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413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549287" y="306786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6816" y="3089970"/>
            <a:ext cx="7691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 Young Adults &amp; Males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6816" y="3396481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Highest-revenue segments — prioritize in campaigns, product placement, and personalization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90681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549287" y="393337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6816" y="3955479"/>
            <a:ext cx="7691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Boost New Customer Acquisition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56816" y="4261991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83 new customers (2%) signals a critical pipeline gap — invest in top-of-funnel growth initiatives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84AEFA-1070-FD61-FD1F-F776601DB016}"/>
              </a:ext>
            </a:extLst>
          </p:cNvPr>
          <p:cNvSpPr/>
          <p:nvPr/>
        </p:nvSpPr>
        <p:spPr>
          <a:xfrm>
            <a:off x="7899009" y="4804117"/>
            <a:ext cx="1244991" cy="33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659</Words>
  <Application>Microsoft Office PowerPoint</Application>
  <PresentationFormat>On-screen Show (16:9)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Roboto</vt:lpstr>
      <vt:lpstr>Arial</vt:lpstr>
      <vt:lpstr>Roboto Slab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Ria Srivastava</cp:lastModifiedBy>
  <cp:revision>2</cp:revision>
  <dcterms:created xsi:type="dcterms:W3CDTF">2026-07-16T22:31:11Z</dcterms:created>
  <dcterms:modified xsi:type="dcterms:W3CDTF">2026-07-16T22:32:51Z</dcterms:modified>
</cp:coreProperties>
</file>